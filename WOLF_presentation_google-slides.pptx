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WOLF создан для людей, которые одновременно развивают несколько направлений и не работают по стабильному внешнему графику. Их реальный путь в работу часто выглядит как дрейф, разогрев, вход в поток, переключение и возвращение. Система не пытается превратить такую жизнь в обычный офисный календарь.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Классические инструменты предполагают равномерную продуктивность и внешний ритм. Для пользователя WOLF это часто означает, что отклонение от плана превращается в вину. Поэтому системе нужна другая точка опоры: не контроль каждой минуты, а возможность видеть общий объём и возвращаться к работе.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WOLF пользователь планирует недельный объём: например, 12 часов на QA, 6 часов на музыку и 4 часа на спорт. Если работа над сложной частью затянулась или, наоборот, пошла быстрее, план можно скорректировать внутри недели. Поток важнее формального окончания слота.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 хочет понимать последствия: когда реально закончится QA при текущем темпе, как новый проект повлияет на остальные и где он остановился. Гантт показывает план, факт и прогноз по проектам, а кривая нагрузки помогает увидеть изменение темпа. Это не оценка пользователя, а модель, которую можно пересчитать.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пользователя много идей: для бизнеса, творчества, быта и автоматизации. Если не фиксировать их, они продолжают возвращаться и конкурировать с текущей работой. Банк идей отделяет фиксацию от обязательства: идею можно сохранить, связать с целью, а решение о реализации принять позже.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Слой смыслов объединяет цели, сферы жизни, проекты, синергию, банк идей, LLM Wiki и честный прогноз. Он отвечает на вопрос: зачем этот проект занимает место в моей жизни и что изменится, если я добавлю ещё один. Итоговая идея WOLF — не сделать человека идеальной машиной продуктивности, а помочь ему возвращаться и двигаться в собственном реальном темпе.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2743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202322"/>
                </a:solidFill>
                <a:latin typeface="DejaVu Sans"/>
              </a:rPr>
              <a:t>WOLF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14300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C68"/>
                </a:solidFill>
                <a:latin typeface="DejaVu Sans"/>
              </a:rPr>
              <a:t>Wolf's Own Life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1572768"/>
            <a:ext cx="10844784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1993392"/>
            <a:ext cx="6583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92000"/>
              </a:lnSpc>
            </a:pPr>
            <a:r>
              <a:rPr sz="3200" b="1" i="0">
                <a:solidFill>
                  <a:srgbClr val="202322"/>
                </a:solidFill>
                <a:latin typeface="DejaVu Sans"/>
              </a:rPr>
              <a:t>Для жизни, которая
не укладывается в расписание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310128"/>
            <a:ext cx="5852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66C68"/>
                </a:solidFill>
                <a:latin typeface="DejaVu Sans"/>
              </a:rPr>
              <a:t>Планирование для человека с несколькими проектами,
волнообразной продуктивностью и автономным графиком.</a:t>
            </a:r>
          </a:p>
        </p:txBody>
      </p:sp>
      <p:sp>
        <p:nvSpPr>
          <p:cNvPr id="7" name="Oval 6"/>
          <p:cNvSpPr/>
          <p:nvPr/>
        </p:nvSpPr>
        <p:spPr>
          <a:xfrm>
            <a:off x="8339327" y="2359152"/>
            <a:ext cx="1005840" cy="1005840"/>
          </a:xfrm>
          <a:prstGeom prst="ellipse">
            <a:avLst/>
          </a:prstGeom>
          <a:solidFill>
            <a:srgbClr val="BEDDC3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7" y="2606040"/>
            <a:ext cx="1005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300" b="1" i="0">
                <a:solidFill>
                  <a:srgbClr val="202322"/>
                </a:solidFill>
                <a:latin typeface="DejaVu Sans"/>
              </a:rPr>
              <a:t>Я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7397496" y="1956816"/>
            <a:ext cx="1444752" cy="896112"/>
          </a:xfrm>
          <a:prstGeom prst="line">
            <a:avLst/>
          </a:prstGeom>
          <a:ln w="139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59168" y="1783080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1874519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02322"/>
                </a:solidFill>
                <a:latin typeface="DejaVu Sans"/>
              </a:rPr>
              <a:t>QA / Java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842248" y="1956816"/>
            <a:ext cx="1078992" cy="896112"/>
          </a:xfrm>
          <a:prstGeom prst="line">
            <a:avLst/>
          </a:prstGeom>
          <a:ln w="139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582912" y="1783080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2912" y="1874519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02322"/>
                </a:solidFill>
                <a:latin typeface="DejaVu Sans"/>
              </a:rPr>
              <a:t>Музыка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104888" y="2852928"/>
            <a:ext cx="1737360" cy="1069848"/>
          </a:xfrm>
          <a:prstGeom prst="line">
            <a:avLst/>
          </a:prstGeom>
          <a:ln w="139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66560" y="3749039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840479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02322"/>
                </a:solidFill>
                <a:latin typeface="DejaVu Sans"/>
              </a:rPr>
              <a:t>Здоровье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42248" y="2852928"/>
            <a:ext cx="1280159" cy="1069848"/>
          </a:xfrm>
          <a:prstGeom prst="line">
            <a:avLst/>
          </a:prstGeom>
          <a:ln w="139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84080" y="3749039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840479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02322"/>
                </a:solidFill>
                <a:latin typeface="DejaVu Sans"/>
              </a:rPr>
              <a:t>Фриланс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8622792" y="2852928"/>
            <a:ext cx="219456" cy="1984248"/>
          </a:xfrm>
          <a:prstGeom prst="line">
            <a:avLst/>
          </a:prstGeom>
          <a:ln w="139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84464" y="4663440"/>
            <a:ext cx="150876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4754879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202322"/>
                </a:solidFill>
                <a:latin typeface="DejaVu Sans"/>
              </a:rPr>
              <a:t>Быт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550408"/>
            <a:ext cx="4251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3D6B48"/>
                </a:solidFill>
                <a:latin typeface="DejaVu Sans"/>
              </a:rPr>
              <a:t>дрейф → разогрев → поток → возвращение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01 · ДЛЯ КОГО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02322"/>
                </a:solidFill>
                <a:latin typeface="DejaVu Sans"/>
              </a:rPr>
              <a:t>Классические трекеры часто усиливают вину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66C68"/>
                </a:solidFill>
                <a:latin typeface="DejaVu Sans"/>
              </a:rPr>
              <a:t>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81360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783080"/>
            <a:ext cx="5285232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32004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02322"/>
                </a:solidFill>
                <a:latin typeface="DejaVu Sans"/>
              </a:rPr>
              <a:t>Пользователь WOLF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6517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542032"/>
            <a:ext cx="4279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02322"/>
                </a:solidFill>
                <a:latin typeface="DejaVu Sans"/>
              </a:rPr>
              <a:t>Живёт сразу в нескольких проектах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1089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999232"/>
            <a:ext cx="4279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02322"/>
                </a:solidFill>
                <a:latin typeface="DejaVu Sans"/>
              </a:rPr>
              <a:t>Сам распоряжается своим временем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661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456432"/>
            <a:ext cx="4279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02322"/>
                </a:solidFill>
                <a:latin typeface="DejaVu Sans"/>
              </a:rPr>
              <a:t>Работает волнами, а не равномерно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0233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913632"/>
            <a:ext cx="4279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02322"/>
                </a:solidFill>
                <a:latin typeface="DejaVu Sans"/>
              </a:rPr>
              <a:t>Может войти в поток после долгого разогрева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4805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370832"/>
            <a:ext cx="4279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02322"/>
                </a:solidFill>
                <a:latin typeface="DejaVu Sans"/>
              </a:rPr>
              <a:t>Часто возвращается к незавершённой работе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074920"/>
            <a:ext cx="44348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D6B48"/>
                </a:solidFill>
                <a:latin typeface="DejaVu Sans"/>
              </a:rPr>
              <a:t>Ему нужен не контроль каждой минуты,
а опора для возвращения в работу.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920240"/>
            <a:ext cx="3383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66C68"/>
                </a:solidFill>
                <a:latin typeface="DejaVu Sans"/>
              </a:rPr>
              <a:t>Традиционный сценарий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2395728"/>
            <a:ext cx="4261104" cy="457200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2514600"/>
            <a:ext cx="379476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02322"/>
                </a:solidFill>
                <a:latin typeface="DejaVu Sans"/>
              </a:rPr>
              <a:t>Pomodoro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081528"/>
            <a:ext cx="4261104" cy="457200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3200400"/>
            <a:ext cx="379476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02322"/>
                </a:solidFill>
                <a:latin typeface="DejaVu Sans"/>
              </a:rPr>
              <a:t>Жёсткий план дня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767328"/>
            <a:ext cx="4261104" cy="457200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886200"/>
            <a:ext cx="3794760" cy="1920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02322"/>
                </a:solidFill>
                <a:latin typeface="DejaVu Sans"/>
              </a:rPr>
              <a:t>Просрочка = провал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736592"/>
            <a:ext cx="1280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D6B48"/>
                </a:solidFill>
                <a:latin typeface="DejaVu Sans"/>
              </a:rPr>
              <a:t>WOLF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5138928"/>
            <a:ext cx="4261104" cy="612648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5285232"/>
            <a:ext cx="379476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02322"/>
                </a:solidFill>
                <a:latin typeface="DejaVu Sans"/>
              </a:rPr>
              <a:t>Недельный объём + реальный темп
+ возможность вернуться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02 · НЕДЕЛЯ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02322"/>
                </a:solidFill>
                <a:latin typeface="DejaVu Sans"/>
              </a:rPr>
              <a:t>Планируется объём работы, а не каждая минута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66C68"/>
                </a:solidFill>
                <a:latin typeface="DejaVu San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81360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64792"/>
            <a:ext cx="7315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66C68"/>
                </a:solidFill>
                <a:latin typeface="DejaVu Sans"/>
              </a:rPr>
              <a:t>Если сложная работа наконец пошла, WOLF не прерывает её
только потому, что закончился формальный слот.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42032"/>
            <a:ext cx="5074920" cy="3273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16352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66C68"/>
                </a:solidFill>
                <a:latin typeface="DejaVu Sans"/>
              </a:rPr>
              <a:t>План дня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" y="3310128"/>
            <a:ext cx="3977639" cy="384048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10:00  задача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904488"/>
            <a:ext cx="3977639" cy="384048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99592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12:00  задача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" y="4498848"/>
            <a:ext cx="3977639" cy="384048"/>
          </a:xfrm>
          <a:prstGeom prst="roundRect">
            <a:avLst>
              <a:gd name="adj" fmla="val 8000"/>
            </a:avLst>
          </a:prstGeom>
          <a:solidFill>
            <a:srgbClr val="EBD6D3"/>
          </a:solidFill>
          <a:ln w="9525">
            <a:solidFill>
              <a:srgbClr val="EBD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590288"/>
            <a:ext cx="3566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14:00  задача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166360"/>
            <a:ext cx="3749039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66C68"/>
                </a:solidFill>
                <a:latin typeface="DejaVu Sans"/>
              </a:rPr>
              <a:t>Поток приходится
останавливать по часам.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79592" y="3767328"/>
            <a:ext cx="676656" cy="384048"/>
          </a:xfrm>
          <a:prstGeom prst="rightArrow">
            <a:avLst/>
          </a:prstGeom>
          <a:solidFill>
            <a:srgbClr val="BEDDC3"/>
          </a:solidFill>
          <a:ln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29984" y="2542032"/>
            <a:ext cx="4754880" cy="3273552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81635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D6B48"/>
                </a:solidFill>
                <a:latin typeface="DejaVu Sans"/>
              </a:rPr>
              <a:t>План недели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331012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666C68"/>
                </a:solidFill>
                <a:latin typeface="DejaVu Sans"/>
              </a:rPr>
              <a:t>Проект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310128"/>
            <a:ext cx="1097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666C68"/>
                </a:solidFill>
                <a:latin typeface="DejaVu Sans"/>
              </a:rPr>
              <a:t>Объём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3703320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QA / 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703320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2322"/>
                </a:solidFill>
                <a:latin typeface="DejaVu Sans"/>
              </a:rPr>
              <a:t>12 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68712" y="3749039"/>
            <a:ext cx="841248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68712" y="3749039"/>
            <a:ext cx="504748" cy="118872"/>
          </a:xfrm>
          <a:prstGeom prst="roundRect">
            <a:avLst>
              <a:gd name="adj" fmla="val 8000"/>
            </a:avLst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423367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Музыка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4233672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2322"/>
                </a:solidFill>
                <a:latin typeface="DejaVu Sans"/>
              </a:rPr>
              <a:t>6 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8712" y="4279392"/>
            <a:ext cx="841248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68712" y="4279392"/>
            <a:ext cx="302849" cy="118872"/>
          </a:xfrm>
          <a:prstGeom prst="roundRect">
            <a:avLst>
              <a:gd name="adj" fmla="val 8000"/>
            </a:avLst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4764024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Спорт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8" y="4764024"/>
            <a:ext cx="640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2322"/>
                </a:solidFill>
                <a:latin typeface="DejaVu Sans"/>
              </a:rPr>
              <a:t>4 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68712" y="4809744"/>
            <a:ext cx="841248" cy="118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268712" y="4809744"/>
            <a:ext cx="706648" cy="118872"/>
          </a:xfrm>
          <a:prstGeom prst="roundRect">
            <a:avLst>
              <a:gd name="adj" fmla="val 8000"/>
            </a:avLst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2592" y="5230368"/>
            <a:ext cx="3749039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D6B48"/>
                </a:solidFill>
                <a:latin typeface="DejaVu Sans"/>
              </a:rPr>
              <a:t>Распределение внутри недели
можно менять по факту.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03 · ПРОГНОЗ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02322"/>
                </a:solidFill>
                <a:latin typeface="DejaVu Sans"/>
              </a:rPr>
              <a:t>Как сегодняшние решения меняют будущие сроки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66C68"/>
                </a:solidFill>
                <a:latin typeface="DejaVu San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81360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64792"/>
            <a:ext cx="7772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66C68"/>
                </a:solidFill>
                <a:latin typeface="DejaVu Sans"/>
              </a:rPr>
              <a:t>Гантт и кривая нагрузки показывают не только план,
но и последствия реального темпа.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87168"/>
            <a:ext cx="6967728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724912"/>
            <a:ext cx="4389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02322"/>
                </a:solidFill>
                <a:latin typeface="DejaVu Sans"/>
              </a:rPr>
              <a:t>Диаграмма Ганта · план / факт / прогноз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318211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Июнь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98064" y="3429000"/>
            <a:ext cx="0" cy="2075688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39312" y="318211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Июль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39312" y="3429000"/>
            <a:ext cx="0" cy="2075688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80560" y="318211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Авг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3429000"/>
            <a:ext cx="0" cy="2075688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21808" y="318211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Сент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21808" y="3429000"/>
            <a:ext cx="0" cy="2075688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63056" y="3182112"/>
            <a:ext cx="7498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Окт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63056" y="3429000"/>
            <a:ext cx="0" cy="2075688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32688" y="3758183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322"/>
                </a:solidFill>
                <a:latin typeface="DejaVu Sans"/>
              </a:rPr>
              <a:t>QA / Java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98064" y="3858768"/>
            <a:ext cx="4425696" cy="0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98064" y="3730751"/>
            <a:ext cx="2103120" cy="256032"/>
          </a:xfrm>
          <a:prstGeom prst="roundRect">
            <a:avLst>
              <a:gd name="adj" fmla="val 8000"/>
            </a:avLst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3771900"/>
            <a:ext cx="2011680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202322"/>
                </a:solidFill>
                <a:latin typeface="DejaVu Sans"/>
              </a:rPr>
              <a:t>план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343399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Музыка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98064" y="4443983"/>
            <a:ext cx="4425696" cy="0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386937" y="4315967"/>
            <a:ext cx="1682496" cy="256032"/>
          </a:xfrm>
          <a:prstGeom prst="roundRect">
            <a:avLst>
              <a:gd name="adj" fmla="val 8000"/>
            </a:avLst>
          </a:prstGeom>
          <a:solidFill>
            <a:srgbClr val="BEDDC3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1801" y="4357116"/>
            <a:ext cx="159105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202322"/>
                </a:solidFill>
                <a:latin typeface="DejaVu Sans"/>
              </a:rPr>
              <a:t>факт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4928616"/>
            <a:ext cx="16276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Фриланс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98064" y="5029200"/>
            <a:ext cx="4425696" cy="0"/>
          </a:xfrm>
          <a:prstGeom prst="line">
            <a:avLst/>
          </a:prstGeom>
          <a:ln w="762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64684" y="4901183"/>
            <a:ext cx="1850745" cy="256032"/>
          </a:xfrm>
          <a:prstGeom prst="roundRect">
            <a:avLst>
              <a:gd name="adj" fmla="val 8000"/>
            </a:avLst>
          </a:prstGeom>
          <a:solidFill>
            <a:srgbClr val="E5D5A6"/>
          </a:solidFill>
          <a:ln w="9525">
            <a:solidFill>
              <a:srgbClr val="E5D5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9548" y="4942332"/>
            <a:ext cx="1759305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202322"/>
                </a:solidFill>
                <a:latin typeface="DejaVu Sans"/>
              </a:rPr>
              <a:t>новый проект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89320" y="3401568"/>
            <a:ext cx="0" cy="2130552"/>
          </a:xfrm>
          <a:prstGeom prst="line">
            <a:avLst/>
          </a:prstGeom>
          <a:ln w="1778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87568" y="5605272"/>
            <a:ext cx="6583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сегодня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9560" y="2487168"/>
            <a:ext cx="3584448" cy="3456432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2724912"/>
            <a:ext cx="23774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D6B48"/>
                </a:solidFill>
                <a:latin typeface="DejaVu Sans"/>
              </a:rPr>
              <a:t>Кривая нагрузки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21040" y="5358384"/>
            <a:ext cx="2834640" cy="0"/>
          </a:xfrm>
          <a:prstGeom prst="line">
            <a:avLst/>
          </a:prstGeom>
          <a:ln w="10160">
            <a:solidFill>
              <a:srgbClr val="666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321040" y="3328416"/>
            <a:ext cx="0" cy="2029968"/>
          </a:xfrm>
          <a:prstGeom prst="line">
            <a:avLst/>
          </a:prstGeom>
          <a:ln w="10160">
            <a:solidFill>
              <a:srgbClr val="666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375904" y="4736592"/>
            <a:ext cx="475488" cy="329184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851392" y="4736592"/>
            <a:ext cx="448056" cy="128016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299448" y="4023360"/>
            <a:ext cx="411480" cy="841248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710928" y="4023360"/>
            <a:ext cx="420624" cy="347472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131552" y="3767328"/>
            <a:ext cx="438912" cy="603504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570464" y="3767328"/>
            <a:ext cx="475488" cy="146304"/>
          </a:xfrm>
          <a:prstGeom prst="line">
            <a:avLst/>
          </a:prstGeom>
          <a:ln w="2667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334756" y="5024628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810244" y="4695444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58300" y="482346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69780" y="3982212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90404" y="4329684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29316" y="3726180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04804" y="3872484"/>
            <a:ext cx="82296" cy="82296"/>
          </a:xfrm>
          <a:prstGeom prst="ellipse">
            <a:avLst/>
          </a:prstGeom>
          <a:solidFill>
            <a:srgbClr val="3D6B48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118104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темп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5468112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C68"/>
                </a:solidFill>
                <a:latin typeface="DejaVu Sans"/>
              </a:rPr>
              <a:t>время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47888" y="5550408"/>
            <a:ext cx="26517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202322"/>
                </a:solidFill>
                <a:latin typeface="DejaVu Sans"/>
              </a:rPr>
              <a:t>Новый проект
сдвигает прогноз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04 · БАНК ИДЕЙ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02322"/>
                </a:solidFill>
                <a:latin typeface="DejaVu Sans"/>
              </a:rPr>
              <a:t>Идея получает место, но не становится новым долгом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66C68"/>
                </a:solidFill>
                <a:latin typeface="DejaVu San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81360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64792"/>
            <a:ext cx="74980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66C68"/>
                </a:solidFill>
                <a:latin typeface="DejaVu Sans"/>
              </a:rPr>
              <a:t>Новые замыслы можно быстро выгрузить из головы,
не обещая себе немедленно их реализовать.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61488"/>
            <a:ext cx="157276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054096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Идея
появилась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3108960"/>
            <a:ext cx="365760" cy="292608"/>
          </a:xfrm>
          <a:prstGeom prst="rightArrow">
            <a:avLst/>
          </a:prstGeom>
          <a:solidFill>
            <a:srgbClr val="BEDDC3"/>
          </a:solidFill>
          <a:ln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2761488"/>
            <a:ext cx="157276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3054096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Быстрая
фиксация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36008" y="3108960"/>
            <a:ext cx="365760" cy="292608"/>
          </a:xfrm>
          <a:prstGeom prst="rightArrow">
            <a:avLst/>
          </a:prstGeom>
          <a:solidFill>
            <a:srgbClr val="BEDDC3"/>
          </a:solidFill>
          <a:ln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761488"/>
            <a:ext cx="1572768" cy="1078992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054096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02322"/>
                </a:solidFill>
                <a:latin typeface="DejaVu Sans"/>
              </a:rPr>
              <a:t>Банк
идей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84848" y="3108960"/>
            <a:ext cx="365760" cy="292608"/>
          </a:xfrm>
          <a:prstGeom prst="rightArrow">
            <a:avLst/>
          </a:prstGeom>
          <a:solidFill>
            <a:srgbClr val="BEDDC3"/>
          </a:solidFill>
          <a:ln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69480" y="2761488"/>
            <a:ext cx="157276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3054096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Связь с целью
или сферой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33688" y="3108960"/>
            <a:ext cx="365760" cy="292608"/>
          </a:xfrm>
          <a:prstGeom prst="rightArrow">
            <a:avLst/>
          </a:prstGeom>
          <a:solidFill>
            <a:srgbClr val="BEDDC3"/>
          </a:solidFill>
          <a:ln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761488"/>
            <a:ext cx="157276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3054096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0" i="0">
                <a:solidFill>
                  <a:srgbClr val="202322"/>
                </a:solidFill>
                <a:latin typeface="DejaVu Sans"/>
              </a:rPr>
              <a:t>Решение:
когда и зачем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07408"/>
            <a:ext cx="525780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645152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666C68"/>
                </a:solidFill>
                <a:latin typeface="DejaVu Sans"/>
              </a:rPr>
              <a:t>Пример записи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937760"/>
            <a:ext cx="4480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02322"/>
                </a:solidFill>
                <a:latin typeface="DejaVu Sans"/>
              </a:rPr>
              <a:t>Автоматизировать личный финансовый учёт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294376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66C68"/>
                </a:solidFill>
                <a:latin typeface="DejaVu Sans"/>
              </a:rPr>
              <a:t>Сфера: бизнес / быт    ·    Статус: на рассмотрении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07408"/>
            <a:ext cx="5084064" cy="1353312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4690872"/>
            <a:ext cx="43891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3D6B48"/>
                </a:solidFill>
                <a:latin typeface="DejaVu Sans"/>
              </a:rPr>
              <a:t>Фиксация ≠ обязательство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5102352"/>
            <a:ext cx="4343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02322"/>
                </a:solidFill>
                <a:latin typeface="DejaVu Sans"/>
              </a:rPr>
              <a:t>Банк идей снижает шум, но не добавляет давления.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3D6B48"/>
                </a:solidFill>
                <a:latin typeface="DejaVu Sans"/>
              </a:rPr>
              <a:t>05 · СЛОЙ СМЫСЛОВ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698480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202322"/>
                </a:solidFill>
                <a:latin typeface="DejaVu Sans"/>
              </a:rPr>
              <a:t>Связать ежедневную работу с тем, ради чего она нужна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666C68"/>
                </a:solidFill>
                <a:latin typeface="DejaVu San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481328"/>
            <a:ext cx="10881360" cy="0"/>
          </a:xfrm>
          <a:prstGeom prst="line">
            <a:avLst/>
          </a:prstGeom>
          <a:ln w="1016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764792"/>
            <a:ext cx="73152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666C68"/>
                </a:solidFill>
                <a:latin typeface="DejaVu Sans"/>
              </a:rPr>
              <a:t>WOLF показывает не только дела и сроки,
но и место проектов в общей жизни.</a:t>
            </a:r>
          </a:p>
        </p:txBody>
      </p:sp>
      <p:sp>
        <p:nvSpPr>
          <p:cNvPr id="7" name="Oval 6"/>
          <p:cNvSpPr/>
          <p:nvPr/>
        </p:nvSpPr>
        <p:spPr>
          <a:xfrm>
            <a:off x="5376672" y="3401568"/>
            <a:ext cx="1024128" cy="1024128"/>
          </a:xfrm>
          <a:prstGeom prst="ellipse">
            <a:avLst/>
          </a:prstGeom>
          <a:solidFill>
            <a:srgbClr val="BEDDC3"/>
          </a:solidFill>
          <a:ln w="9525">
            <a:solidFill>
              <a:srgbClr val="3D6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72" y="3703320"/>
            <a:ext cx="10241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02322"/>
                </a:solidFill>
                <a:latin typeface="DejaVu Sans"/>
              </a:rPr>
              <a:t>Цели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468880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24328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Сферы
жизни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1728216" y="2798064"/>
            <a:ext cx="4160520" cy="1115568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16352" y="1810512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965960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322"/>
                </a:solidFill>
                <a:latin typeface="DejaVu Sans"/>
              </a:rPr>
              <a:t>Проекты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611880" y="2139696"/>
            <a:ext cx="2276856" cy="1773936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635240" y="1810512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Синергия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888736" y="2139696"/>
            <a:ext cx="2542031" cy="1773936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28048" y="2468880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2624328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LLM Wiki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5888736" y="2798064"/>
            <a:ext cx="4434840" cy="1115568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" y="4681728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837176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02322"/>
                </a:solidFill>
                <a:latin typeface="DejaVu Sans"/>
              </a:rPr>
              <a:t>Банк
идей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728216" y="3913632"/>
            <a:ext cx="4160520" cy="1097280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528048" y="4681728"/>
            <a:ext cx="16002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4837176"/>
            <a:ext cx="1417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02322"/>
                </a:solidFill>
                <a:latin typeface="DejaVu Sans"/>
              </a:rPr>
              <a:t>Гантт
и прогноз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888736" y="3913632"/>
            <a:ext cx="4434840" cy="1097280"/>
          </a:xfrm>
          <a:prstGeom prst="line">
            <a:avLst/>
          </a:prstGeom>
          <a:ln w="11430">
            <a:solidFill>
              <a:srgbClr val="3D6B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907792" y="5559552"/>
            <a:ext cx="6364224" cy="530352"/>
          </a:xfrm>
          <a:prstGeom prst="roundRect">
            <a:avLst>
              <a:gd name="adj" fmla="val 8000"/>
            </a:avLst>
          </a:prstGeom>
          <a:solidFill>
            <a:srgbClr val="E8F2E8"/>
          </a:solidFill>
          <a:ln w="9525">
            <a:solidFill>
              <a:srgbClr val="BEDD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5696712"/>
            <a:ext cx="607161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3D6B48"/>
                </a:solidFill>
                <a:latin typeface="DejaVu Sans"/>
              </a:rPr>
              <a:t>Не сделать человека идеальной машиной, а помочь ему возвращаться и двигаться в своём реальном темпе.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73952"/>
            <a:ext cx="10881360" cy="0"/>
          </a:xfrm>
          <a:prstGeom prst="line">
            <a:avLst/>
          </a:prstGeom>
          <a:ln w="8890">
            <a:solidFill>
              <a:srgbClr val="D3D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547104"/>
            <a:ext cx="5303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666C68"/>
                </a:solidFill>
                <a:latin typeface="DejaVu Sans"/>
              </a:rPr>
              <a:t>WOLF · Wolf's Own Life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